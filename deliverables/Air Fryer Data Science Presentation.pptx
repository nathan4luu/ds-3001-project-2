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51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Into the Air Fryer Market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Costs &amp; Competitive Positioning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ED0"/>
                </a:solidFill>
                <a:latin typeface="Calibri" pitchFamily="34" charset="0"/>
                <a:cs typeface="Calibri" pitchFamily="34" charset="-120"/>
              </a:rPr>
              <a:t>Sai Gadipati, Nathan Luu, Nate Kim, Austin Song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Data Analyst  ·  Data Scientist  ·  Pricing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371600"/>
          </a:xfrm>
          <a:prstGeom prst="rect">
            <a:avLst/>
          </a:prstGeom>
          <a:solidFill>
            <a:srgbClr val="F0F6F8"/>
          </a:solidFill>
          <a:ln w="12700">
            <a:solidFill>
              <a:srgbClr val="CA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0972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Brands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Chefman to Ninja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1371600"/>
          </a:xfrm>
          <a:prstGeom prst="rect">
            <a:avLst/>
          </a:prstGeom>
          <a:solidFill>
            <a:srgbClr val="F0F6F8"/>
          </a:solidFill>
          <a:ln w="12700">
            <a:solidFill>
              <a:srgbClr val="CA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10972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932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51760" cy="1371600"/>
          </a:xfrm>
          <a:prstGeom prst="rect">
            <a:avLst/>
          </a:prstGeom>
          <a:solidFill>
            <a:srgbClr val="F0F6F8"/>
          </a:solidFill>
          <a:ln w="12700">
            <a:solidFill>
              <a:srgbClr val="CA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10972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932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~$50–$230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 of prices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42316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air fryer market grew rapidly through the early 2020s, driven by the pandemic-era surge in home cooking and health-conscious consumer trends. By 2023, the market had consolidated around a handful of dominant brands consisting of Ninja, Instant Pot, and Oster. Other budget-tier players faced mounting share pressure. This analysis covers 10 brands and five years of panel 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Trends: Price &amp; Consumer Ratings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37160" y="33832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relatively stable over time within each brand indicating that this is a market defined by</a:t>
            </a:r>
            <a:r>
              <a:rPr lang="en-US" sz="1050" dirty="0"/>
              <a:t> 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price tiers, not price competition. Any changes in prices come from brands seeking to enter a new tier of competition, such as Ninja in 2021.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663440" y="33832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ratings are uniformly high, ranging from 4.1 to 4.6 stars, and flat over time. This suggests that quality perceptions are already baked in.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F0F6F8"/>
          </a:solidFill>
          <a:ln w="12700">
            <a:solidFill>
              <a:srgbClr val="CA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74320" y="4069080"/>
            <a:ext cx="91440" cy="8229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411480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Cuisinart and Oster consistently command the highest prices ($190–$230). Dash and Ultrean compete at the budget end (~$50-$75). Notably, higher prices do not translate into higher consumer rating.</a:t>
            </a:r>
            <a:endParaRPr lang="en-US" sz="1150" dirty="0"/>
          </a:p>
        </p:txBody>
      </p:sp>
      <p:pic>
        <p:nvPicPr>
          <p:cNvPr id="11" name="Picture 10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B604861-1664-DA5D-360D-998EEFB2F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26" y="777241"/>
            <a:ext cx="3544680" cy="2606040"/>
          </a:xfrm>
          <a:prstGeom prst="rect">
            <a:avLst/>
          </a:prstGeom>
        </p:spPr>
      </p:pic>
      <p:pic>
        <p:nvPicPr>
          <p:cNvPr id="12" name="Picture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18254F8-14F1-DAE6-3D9B-5746D6959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026" y="733154"/>
            <a:ext cx="3682334" cy="27161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Dynamics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4114800"/>
            <a:ext cx="2606040" cy="777240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4114800"/>
            <a:ext cx="260604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38912" y="4123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Gaining Share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38912" y="43342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Ninja, Instant Pot, Cosori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114800"/>
            <a:ext cx="2606040" cy="777240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4114800"/>
            <a:ext cx="260604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73552" y="4123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73552" y="43342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Cuisinart, NuWave, Oster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4114800"/>
            <a:ext cx="2606040" cy="777240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35040" y="4114800"/>
            <a:ext cx="2606040" cy="20116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08192" y="4123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Losing Share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08192" y="43342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GoWise USA, Dash, </a:t>
            </a:r>
            <a:r>
              <a:rPr lang="en-US" sz="1000" dirty="0" err="1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Chefman</a:t>
            </a: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Ultrean</a:t>
            </a: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pic>
        <p:nvPicPr>
          <p:cNvPr id="17" name="Picture 16" descr="A graph with colored lines and dots&#10;&#10;AI-generated content may be incorrect.">
            <a:extLst>
              <a:ext uri="{FF2B5EF4-FFF2-40B4-BE49-F238E27FC236}">
                <a16:creationId xmlns:a16="http://schemas.microsoft.com/office/drawing/2014/main" id="{4D45A5DE-70EF-E4BD-8C42-181BB148C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612" y="704088"/>
            <a:ext cx="4619117" cy="3379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Logit-style demand model estimated by OLS on log market share
</a:t>
            </a: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log(brand_share) — captures proportional changes in demand
</a:t>
            </a: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price, average rating, 5 product feature shares
</a:t>
            </a: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dummies (ref: Chefman) + Year dummies (ref: 2019)
</a:t>
            </a: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0.7635 — model explains 76% of variation in log share
</a:t>
            </a: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price coefficient shared by all brands &amp; years</a:t>
            </a:r>
          </a:p>
          <a:p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cs typeface="Calibri" pitchFamily="34" charset="-120"/>
              </a:rPr>
              <a:t>Price Coefficient: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cs typeface="Calibri" pitchFamily="34" charset="-120"/>
              </a:rPr>
              <a:t>-0.0377 </a:t>
            </a: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means that every $1 increase in average price is associated with a 3.8% decrease in brand share when holding brand, year, rating, and features constant.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Negative sign crucial because higher prices should reduce market share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804672"/>
            <a:ext cx="393192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7492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Equation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log(s_bt) =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627632"/>
            <a:ext cx="3566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α₀  (intercept)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αₜ  (year fixed effect)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γ_b  (brand fixed effect)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β_price · p_bt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β_rating · r_bt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Σ β_ℓ · x_btℓ  (features)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ε_bt  (error)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4747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Demand?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STRONGEST POSITIVE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STRONGEST NEGATIVE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1572768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0233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197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1978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517904"/>
            <a:ext cx="3749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strongly value being able to see food cooking. This is the single largest positive driver of market share in the entire model.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07792"/>
            <a:ext cx="4023360" cy="1572768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0233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935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+9.82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935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255264"/>
            <a:ext cx="3749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standard form factor. Nearly 98% of products carry this feature, making it a baseline expectation rather than a differentiator. However, brands without it face a steep share penalty.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170432"/>
            <a:ext cx="4023360" cy="1572768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23360" cy="25603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1197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−9.51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11978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Basket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1517904"/>
            <a:ext cx="3749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marketed as a premium innovation, dual-basket designs actively hurt market share according to the analysis.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07792"/>
            <a:ext cx="4023360" cy="1572768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907792"/>
            <a:ext cx="4023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2935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−5.67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935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Rotisserie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255264"/>
            <a:ext cx="3749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Rotisserie attachments are similarly niche and negatively associated with share. Specialized add-ons appear to reduce broad consumer appeal rather than expanding the customer base.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Unit Costs &amp; Markups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54138"/>
              </p:ext>
            </p:extLst>
          </p:nvPr>
        </p:nvGraphicFramePr>
        <p:xfrm>
          <a:off x="5239062" y="900309"/>
          <a:ext cx="3539177" cy="3063236"/>
        </p:xfrm>
        <a:graphic>
          <a:graphicData uri="http://schemas.openxmlformats.org/drawingml/2006/table">
            <a:tbl>
              <a:tblPr/>
              <a:tblGrid>
                <a:gridCol w="124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Markup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Ninja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$110.80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$79.86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$30.93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Instant Pot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$85.48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$54.75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$30.72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Oster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$90.00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$59.81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$30.19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Cuisinart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$119.65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$90.62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$29.02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GoWise USA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$59.72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$30.45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$29.27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Cosori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$68.99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$39.74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$29.25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NuWave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$74.94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$45.82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$29.11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Ultrean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$48.39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$18.91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$29.48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Dash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$44.72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$15.87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$28.86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Chefman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$54.96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$26.78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A"/>
                          </a:solidFill>
                        </a:rPr>
                        <a:t>$28.18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Picture 7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225EDA28-C4EE-B79F-189C-2E519A8D0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2" y="900309"/>
            <a:ext cx="4850212" cy="3021725"/>
          </a:xfrm>
          <a:prstGeom prst="rect">
            <a:avLst/>
          </a:prstGeom>
        </p:spPr>
      </p:pic>
      <p:sp>
        <p:nvSpPr>
          <p:cNvPr id="11" name="Shape 18">
            <a:extLst>
              <a:ext uri="{FF2B5EF4-FFF2-40B4-BE49-F238E27FC236}">
                <a16:creationId xmlns:a16="http://schemas.microsoft.com/office/drawing/2014/main" id="{222ED274-0E6F-56B9-0B88-1BBB94153A4F}"/>
              </a:ext>
            </a:extLst>
          </p:cNvPr>
          <p:cNvSpPr/>
          <p:nvPr/>
        </p:nvSpPr>
        <p:spPr>
          <a:xfrm>
            <a:off x="0" y="420624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Key takeaway: Markup costs are more or less uniform across all brands, indicating that the key differentiator between the brands is unit cost.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Share-Weighted Profitability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5120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profit index?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15000" y="12070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 index = brand_share × markup. It is a share-weighted proxy for profitability, not the total dollar profit. It captures which brands combine high pricing with market presence.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715000" y="2331720"/>
            <a:ext cx="3200400" cy="640080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0" y="2331720"/>
            <a:ext cx="914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70448" y="2386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70448" y="2633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share + strong markup = top profit index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15000" y="3081528"/>
            <a:ext cx="3200400" cy="640080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15000" y="3081528"/>
            <a:ext cx="914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70448" y="3136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70448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share amplifies solid markup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0" y="3831336"/>
            <a:ext cx="3200400" cy="640080"/>
          </a:xfrm>
          <a:prstGeom prst="rect">
            <a:avLst/>
          </a:prstGeom>
          <a:solidFill>
            <a:srgbClr val="F0F6F8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15000" y="3831336"/>
            <a:ext cx="914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70448" y="3886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70448" y="4133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stable share sustains profitability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80467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4114800" cy="1078992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34747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9903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matters far more than price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14813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fixed effects explain most of market share variation. Competing on price alone is not a viable strategy in this market.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4114800" cy="1078992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34747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5877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and Instant Pot are pulling away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26700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brands combine growing market share with high markups and strong profit indices. They are the clearest market leaders heading into 2024.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4114800" cy="1078992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34747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77647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does mean consumer satisfaction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38587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Cuisinart and Ninja have the highest prices, but ratings are flat across all brands. Willingness to pay is driven by brand strength, not necessarily quality.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1078992"/>
            <a:ext cx="4114800" cy="1078992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1078992"/>
            <a:ext cx="34747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39903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76672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and compact features drive share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76672" y="14813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seeking to gain market share should prioritize viewing windows and compact form factors. Rotisserie and dual-basket features are liabilities, not differentiators.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267712"/>
            <a:ext cx="4114800" cy="1078992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2267712"/>
            <a:ext cx="34747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5877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672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and NuWave face pressure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76672" y="26700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market share trajectories combined with smaller markups make these brands the most vulnerable in the competitive landscape.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957</Words>
  <Application>Microsoft Macintosh PowerPoint</Application>
  <PresentationFormat>On-screen Show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Gadipati, Sai Aswin (evj3gb)</cp:lastModifiedBy>
  <cp:revision>5</cp:revision>
  <dcterms:created xsi:type="dcterms:W3CDTF">2026-05-05T15:57:58Z</dcterms:created>
  <dcterms:modified xsi:type="dcterms:W3CDTF">2026-05-05T17:41:55Z</dcterms:modified>
</cp:coreProperties>
</file>