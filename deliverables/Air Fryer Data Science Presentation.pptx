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6" r:id="rId7"/>
    <p:sldId id="263" r:id="rId8"/>
    <p:sldId id="264" r:id="rId9"/>
    <p:sldId id="265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0" d="100"/>
          <a:sy n="170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5136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8229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Look Into the Air Fryer Market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031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Demand, Costs &amp; Competitive Positioning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788920"/>
            <a:ext cx="2286000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– 2023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548640" y="448056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8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Roles: Data Analyst  ·  Data Scientist  ·  Pricing Analyst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Overview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651760" cy="1371600"/>
          </a:xfrm>
          <a:prstGeom prst="rect">
            <a:avLst/>
          </a:prstGeom>
          <a:solidFill>
            <a:srgbClr val="F0F6F8"/>
          </a:solidFill>
          <a:ln w="12700">
            <a:solidFill>
              <a:srgbClr val="CADCDC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109728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326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Competing Brands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Chefman to Ninja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0" y="868680"/>
            <a:ext cx="2651760" cy="1371600"/>
          </a:xfrm>
          <a:prstGeom prst="rect">
            <a:avLst/>
          </a:prstGeom>
          <a:solidFill>
            <a:srgbClr val="F0F6F8"/>
          </a:solidFill>
          <a:ln w="12700">
            <a:solidFill>
              <a:srgbClr val="CADCDC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0" y="868680"/>
            <a:ext cx="109728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383280" y="9326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38328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Data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8328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2019 – 2023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126480" y="868680"/>
            <a:ext cx="2651760" cy="1371600"/>
          </a:xfrm>
          <a:prstGeom prst="rect">
            <a:avLst/>
          </a:prstGeom>
          <a:solidFill>
            <a:srgbClr val="F0F6F8"/>
          </a:solidFill>
          <a:ln w="12700">
            <a:solidFill>
              <a:srgbClr val="CADCDC"/>
            </a:solidFill>
            <a:prstDash val="solid"/>
          </a:ln>
          <a:effectLst>
            <a:outerShdw blurRad="508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126480" y="868680"/>
            <a:ext cx="109728" cy="13716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309360" y="932688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~$50–$230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309360" y="15087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Range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0936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 spread of prices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20040" y="2423160"/>
            <a:ext cx="85039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3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U.S. air fryer market grew rapidly through the early 2020s, driven by the pandemic-era surge in home cooking and health-conscious consumer trends. By 2023, the market had consolidated around a handful of dominant brands consisting of Ninja, Instant Pot, and Oster. Other budget-tier players faced mounting share pressure. This analysis covers 10 brands and five years of panel data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760" y="4251960"/>
            <a:ext cx="8412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Trends: Price &amp; Consumer Ratings</a:t>
            </a:r>
            <a:endParaRPr lang="en-US" sz="2400" dirty="0"/>
          </a:p>
        </p:txBody>
      </p:sp>
      <p:sp>
        <p:nvSpPr>
          <p:cNvPr id="6" name="Text 2"/>
          <p:cNvSpPr/>
          <p:nvPr/>
        </p:nvSpPr>
        <p:spPr>
          <a:xfrm>
            <a:off x="137160" y="3383280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are relatively stable over time within each brand indicating that this is a market defined by</a:t>
            </a:r>
            <a:r>
              <a:rPr lang="en-US" sz="1050" dirty="0"/>
              <a:t> </a:t>
            </a: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price tiers, not price competition. Any changes in prices come from brands seeking to enter a new tier of competition, such as Ninja in 2021.</a:t>
            </a:r>
            <a:endParaRPr lang="en-US" sz="1050" dirty="0"/>
          </a:p>
        </p:txBody>
      </p:sp>
      <p:sp>
        <p:nvSpPr>
          <p:cNvPr id="7" name="Text 3"/>
          <p:cNvSpPr/>
          <p:nvPr/>
        </p:nvSpPr>
        <p:spPr>
          <a:xfrm>
            <a:off x="4663440" y="3383280"/>
            <a:ext cx="43434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ratings are uniformly high, ranging from 4.1 to 4.6 stars, and flat over time. This suggests that quality perceptions are already baked in.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>
            <a:off x="274320" y="4069080"/>
            <a:ext cx="8595360" cy="822960"/>
          </a:xfrm>
          <a:prstGeom prst="rect">
            <a:avLst/>
          </a:prstGeom>
          <a:solidFill>
            <a:srgbClr val="F0F6F8"/>
          </a:solidFill>
          <a:ln w="12700">
            <a:solidFill>
              <a:srgbClr val="CADCD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5"/>
          <p:cNvSpPr/>
          <p:nvPr/>
        </p:nvSpPr>
        <p:spPr>
          <a:xfrm>
            <a:off x="274320" y="4069080"/>
            <a:ext cx="91440" cy="822960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502920" y="4114800"/>
            <a:ext cx="813816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Takeaway: Cuisinart and Oster consistently command the highest prices ($190–$230). Dash and Ultrean compete at the budget end (~$50-$75). Notably, higher prices do not translate into higher consumer rating.</a:t>
            </a:r>
            <a:endParaRPr lang="en-US" sz="1150" dirty="0"/>
          </a:p>
        </p:txBody>
      </p:sp>
      <p:pic>
        <p:nvPicPr>
          <p:cNvPr id="11" name="Picture 10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2B604861-1664-DA5D-360D-998EEFB2F5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9626" y="777241"/>
            <a:ext cx="3544680" cy="2606040"/>
          </a:xfrm>
          <a:prstGeom prst="rect">
            <a:avLst/>
          </a:prstGeom>
        </p:spPr>
      </p:pic>
      <p:pic>
        <p:nvPicPr>
          <p:cNvPr id="12" name="Picture 11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F18254F8-14F1-DAE6-3D9B-5746D69598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3026" y="733154"/>
            <a:ext cx="3682334" cy="27161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Share Dynamics</a:t>
            </a:r>
            <a:endParaRPr lang="en-US" sz="2400" dirty="0"/>
          </a:p>
        </p:txBody>
      </p:sp>
      <p:sp>
        <p:nvSpPr>
          <p:cNvPr id="5" name="Shape 2"/>
          <p:cNvSpPr/>
          <p:nvPr/>
        </p:nvSpPr>
        <p:spPr>
          <a:xfrm>
            <a:off x="365760" y="4114800"/>
            <a:ext cx="2606040" cy="77724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365760" y="4114800"/>
            <a:ext cx="2606040" cy="20116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38912" y="412394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Gaining Share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438912" y="43342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Ninja, Instant Pot, Cosori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00400" y="4114800"/>
            <a:ext cx="2606040" cy="77724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3200400" y="4114800"/>
            <a:ext cx="2606040" cy="201168"/>
          </a:xfrm>
          <a:prstGeom prst="rect">
            <a:avLst/>
          </a:prstGeom>
          <a:solidFill>
            <a:srgbClr val="F9A825"/>
          </a:solidFill>
          <a:ln w="12700">
            <a:solidFill>
              <a:srgbClr val="F9A82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3273552" y="412394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Stable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3273552" y="43342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Cuisinart, NuWave, Oster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6035040" y="4114800"/>
            <a:ext cx="2606040" cy="77724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6035040" y="4114800"/>
            <a:ext cx="2606040" cy="201168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6108192" y="4123944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Losing Share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6108192" y="4334256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GoWise USA, Dash, </a:t>
            </a:r>
            <a:r>
              <a:rPr lang="en-US" sz="1000" dirty="0" err="1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Chefman</a:t>
            </a:r>
            <a:r>
              <a:rPr lang="en-US" sz="10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000" dirty="0" err="1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Ultrean</a:t>
            </a:r>
            <a:r>
              <a:rPr lang="en-US" sz="10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00" dirty="0"/>
          </a:p>
        </p:txBody>
      </p:sp>
      <p:pic>
        <p:nvPicPr>
          <p:cNvPr id="17" name="Picture 16" descr="A graph with colored lines and dots&#10;&#10;AI-generated content may be incorrect.">
            <a:extLst>
              <a:ext uri="{FF2B5EF4-FFF2-40B4-BE49-F238E27FC236}">
                <a16:creationId xmlns:a16="http://schemas.microsoft.com/office/drawing/2014/main" id="{4D45A5DE-70EF-E4BD-8C42-181BB148C2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3612" y="704088"/>
            <a:ext cx="4619117" cy="337928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Demand Model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365760" y="1207008"/>
            <a:ext cx="420624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type: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Logit-style demand model estimated by OLS on log market share
</a:t>
            </a: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Outcome: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log(brand_share) — captures proportional changes in demand
</a:t>
            </a: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price, average rating, 5 product feature shares
</a:t>
            </a: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effects: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dummies (ref: Chefman) + Year dummies (ref: 2019)
</a:t>
            </a: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0.7635 — model explains 76% of variation in log share
</a:t>
            </a: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constraint: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single price coefficient shared by all brands &amp; years</a:t>
            </a:r>
          </a:p>
          <a:p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cs typeface="Calibri" pitchFamily="34" charset="-120"/>
              </a:rPr>
              <a:t>Price Coefficient: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cs typeface="Calibri" pitchFamily="34" charset="-120"/>
              </a:rPr>
              <a:t>-0.0377 </a:t>
            </a:r>
            <a:r>
              <a:rPr lang="en-US" sz="120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means that every $1 increase in average price is associated with a 3.8% decrease in brand share when holding brand, year, rating, and features constant.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Negative sign crucial because higher prices should reduce market share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892040" y="804672"/>
            <a:ext cx="3931920" cy="219456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5074920" y="896112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Equation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74920" y="129844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log(s_bt) =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74920" y="1627632"/>
            <a:ext cx="3566160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α₀  (intercept)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αₜ  (year fixed effect)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γ_b  (brand fixed effect)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β_price · p_bt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β_rating · r_bt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Σ β_ℓ · x_btℓ  (features)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A8D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ε_bt  (error)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0" y="32004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29200" y="347472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Drives Demand?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 STRONGEST POSITIVE IMPACT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754880" y="822960"/>
            <a:ext cx="4023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64A1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 STRONGEST NEGATIVE IMPACT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170432"/>
            <a:ext cx="4023360" cy="1572768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65760" y="1170432"/>
            <a:ext cx="4023360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75488" y="1197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+12.88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71600" y="11978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30352" y="1517904"/>
            <a:ext cx="374904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strongly value being able to see food cooking. This is the single largest positive driver of market share in the entire model.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07792"/>
            <a:ext cx="4023360" cy="1572768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65760" y="2907792"/>
            <a:ext cx="402336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75488" y="2935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+9.82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71600" y="29352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0352" y="3255264"/>
            <a:ext cx="374904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standard form factor. Nearly 98% of products carry this feature, making it a baseline expectation rather than a differentiator. However, brands without it face a steep share penalty.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754880" y="1170432"/>
            <a:ext cx="4023360" cy="1572768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54880" y="1170432"/>
            <a:ext cx="4023360" cy="256032"/>
          </a:xfrm>
          <a:prstGeom prst="rect">
            <a:avLst/>
          </a:prstGeom>
          <a:solidFill>
            <a:srgbClr val="E64A19"/>
          </a:solidFill>
          <a:ln w="12700">
            <a:solidFill>
              <a:srgbClr val="E64A1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864608" y="11978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−9.51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760720" y="119786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Basket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19472" y="1517904"/>
            <a:ext cx="374904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Despite being marketed as a premium innovation, dual-basket designs actively hurt market share according to the analysis. 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54880" y="2907792"/>
            <a:ext cx="4023360" cy="1572768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  <a:effectLst>
            <a:outerShdw blurRad="63500" dist="254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4754880" y="2907792"/>
            <a:ext cx="4023360" cy="256032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864608" y="293522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−5.67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760720" y="2935224"/>
            <a:ext cx="2834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Rotisserie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19472" y="3255264"/>
            <a:ext cx="3749040" cy="11612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Rotisserie attachments are similarly niche and negatively associated with share. Specialized add-ons appear to reduce broad consumer appeal rather than expanding the customer base.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Inferred Unit Costs &amp; Markups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80467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57200" y="1133856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0354138"/>
              </p:ext>
            </p:extLst>
          </p:nvPr>
        </p:nvGraphicFramePr>
        <p:xfrm>
          <a:off x="5239062" y="900309"/>
          <a:ext cx="3539177" cy="3063236"/>
        </p:xfrm>
        <a:graphic>
          <a:graphicData uri="http://schemas.openxmlformats.org/drawingml/2006/table">
            <a:tbl>
              <a:tblPr/>
              <a:tblGrid>
                <a:gridCol w="12410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137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8137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541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Brand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Avg Price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Unit Cost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</a:rPr>
                        <a:t>Markup</a:t>
                      </a:r>
                      <a:endParaRPr lang="en-US" sz="100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Ninja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$110.80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$79.86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$30.93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Instant Pot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$85.48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$54.75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$30.72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Oster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$90.00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$59.81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$30.19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Cuisinart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$119.65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$90.62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$29.02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GoWise USA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$59.72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$30.45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$29.27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Cosori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$68.99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$39.74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$29.25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NuWave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$74.94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$45.82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$29.11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Ultrean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$48.39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$18.91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$29.48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Dash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$44.72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$15.87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$28.86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47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Chefman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$54.96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$26.78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dirty="0">
                          <a:solidFill>
                            <a:srgbClr val="1A2E3A"/>
                          </a:solidFill>
                        </a:rPr>
                        <a:t>$28.18</a:t>
                      </a:r>
                      <a:endParaRPr lang="en-US" sz="950" dirty="0"/>
                    </a:p>
                  </a:txBody>
                  <a:tcPr>
                    <a:lnL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ADAD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6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pic>
        <p:nvPicPr>
          <p:cNvPr id="8" name="Picture 7" descr="A graph of different colored dots&#10;&#10;AI-generated content may be incorrect.">
            <a:extLst>
              <a:ext uri="{FF2B5EF4-FFF2-40B4-BE49-F238E27FC236}">
                <a16:creationId xmlns:a16="http://schemas.microsoft.com/office/drawing/2014/main" id="{225EDA28-C4EE-B79F-189C-2E519A8D03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4892" y="900309"/>
            <a:ext cx="4850212" cy="3021725"/>
          </a:xfrm>
          <a:prstGeom prst="rect">
            <a:avLst/>
          </a:prstGeom>
        </p:spPr>
      </p:pic>
      <p:sp>
        <p:nvSpPr>
          <p:cNvPr id="11" name="Shape 18">
            <a:extLst>
              <a:ext uri="{FF2B5EF4-FFF2-40B4-BE49-F238E27FC236}">
                <a16:creationId xmlns:a16="http://schemas.microsoft.com/office/drawing/2014/main" id="{222ED274-0E6F-56B9-0B88-1BBB94153A4F}"/>
              </a:ext>
            </a:extLst>
          </p:cNvPr>
          <p:cNvSpPr/>
          <p:nvPr/>
        </p:nvSpPr>
        <p:spPr>
          <a:xfrm>
            <a:off x="0" y="4206240"/>
            <a:ext cx="9144000" cy="7772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r>
              <a:rPr lang="en-US" sz="1400" dirty="0">
                <a:solidFill>
                  <a:srgbClr val="FFFFFF"/>
                </a:solidFill>
                <a:ea typeface="Calibri" pitchFamily="34" charset="-122"/>
                <a:cs typeface="Calibri" pitchFamily="34" charset="-120"/>
              </a:rPr>
              <a:t>Key takeaway: Markup costs are more or less uniform across all brands, indicating that the key differentiator between the brands is unit cost.</a:t>
            </a:r>
            <a:endParaRPr lang="en-US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0D213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7315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Share-Weighted Profitability</a:t>
            </a:r>
            <a:endParaRPr lang="en-US" sz="24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777240"/>
            <a:ext cx="51206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715000" y="8229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profit index?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5715000" y="1207008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profit index = brand_share × markup. It is a share-weighted proxy for profitability, not the total dollar profit. It captures which brands combine high pricing with market presence.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715000" y="2331720"/>
            <a:ext cx="3200400" cy="64008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715000" y="2331720"/>
            <a:ext cx="91440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5870448" y="2386584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5870448" y="2633472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Highest share + strong markup = top profit index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5715000" y="3081528"/>
            <a:ext cx="3200400" cy="64008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9"/>
          <p:cNvSpPr/>
          <p:nvPr/>
        </p:nvSpPr>
        <p:spPr>
          <a:xfrm>
            <a:off x="5715000" y="3081528"/>
            <a:ext cx="91440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5870448" y="313639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Pot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5870448" y="33832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Fast-growing share amplifies solid markup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715000" y="3831336"/>
            <a:ext cx="3200400" cy="640080"/>
          </a:xfrm>
          <a:prstGeom prst="rect">
            <a:avLst/>
          </a:prstGeom>
          <a:solidFill>
            <a:srgbClr val="F0F6F8"/>
          </a:solidFill>
          <a:ln w="12700">
            <a:solidFill>
              <a:srgbClr val="DADAD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3"/>
          <p:cNvSpPr/>
          <p:nvPr/>
        </p:nvSpPr>
        <p:spPr>
          <a:xfrm>
            <a:off x="5715000" y="3831336"/>
            <a:ext cx="91440" cy="6400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4"/>
          <p:cNvSpPr/>
          <p:nvPr/>
        </p:nvSpPr>
        <p:spPr>
          <a:xfrm>
            <a:off x="5870448" y="3886200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Oster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5870448" y="4133088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stable share sustains profitability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21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548640" y="256032"/>
            <a:ext cx="8321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932688"/>
            <a:ext cx="8046720" cy="36576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4114800" cy="1078992"/>
          </a:xfrm>
          <a:prstGeom prst="rect">
            <a:avLst/>
          </a:prstGeom>
          <a:solidFill>
            <a:srgbClr val="0A1929"/>
          </a:solidFill>
          <a:ln w="12700">
            <a:solidFill>
              <a:srgbClr val="1E3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1078992"/>
            <a:ext cx="34747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21792" y="1399032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987552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matters far more than price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987552" y="148132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fixed effects explain most of market share variation. Competing on price alone is not a viable strategy in this market.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267712"/>
            <a:ext cx="4114800" cy="1078992"/>
          </a:xfrm>
          <a:prstGeom prst="rect">
            <a:avLst/>
          </a:prstGeom>
          <a:solidFill>
            <a:srgbClr val="0A1929"/>
          </a:solidFill>
          <a:ln w="12700">
            <a:solidFill>
              <a:srgbClr val="1E3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48640" y="2267712"/>
            <a:ext cx="34747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621792" y="2587752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7552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Ninja and Instant Pot are pulling away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87552" y="267004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brands combine growing market share with high markups and strong profit indices. They are the clearest market leaders heading into 2024.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3456432"/>
            <a:ext cx="4114800" cy="1078992"/>
          </a:xfrm>
          <a:prstGeom prst="rect">
            <a:avLst/>
          </a:prstGeom>
          <a:solidFill>
            <a:srgbClr val="0A1929"/>
          </a:solidFill>
          <a:ln w="12700">
            <a:solidFill>
              <a:srgbClr val="1E3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48640" y="3456432"/>
            <a:ext cx="34747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621792" y="3776472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87552" y="35478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 does mean consumer satisfaction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987552" y="385876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Cuisinart and Ninja have the highest prices, but ratings are flat across all brands. Willingness to pay is driven by brand strength, not necessarily quality.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37760" y="1078992"/>
            <a:ext cx="4114800" cy="1078992"/>
          </a:xfrm>
          <a:prstGeom prst="rect">
            <a:avLst/>
          </a:prstGeom>
          <a:solidFill>
            <a:srgbClr val="0A1929"/>
          </a:solidFill>
          <a:ln w="12700">
            <a:solidFill>
              <a:srgbClr val="1E3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4937760" y="1078992"/>
            <a:ext cx="34747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010912" y="1399032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376672" y="11704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and compact features drive share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376672" y="148132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Brands seeking to gain market share should prioritize viewing windows and compact form factors. Rotisserie and dual-basket features are liabilities, not differentiators.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937760" y="2267712"/>
            <a:ext cx="4114800" cy="1078992"/>
          </a:xfrm>
          <a:prstGeom prst="rect">
            <a:avLst/>
          </a:prstGeom>
          <a:solidFill>
            <a:srgbClr val="0A1929"/>
          </a:solidFill>
          <a:ln w="12700">
            <a:solidFill>
              <a:srgbClr val="1E3A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4937760" y="2267712"/>
            <a:ext cx="347472" cy="10789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5010912" y="2587752"/>
            <a:ext cx="228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376672" y="23591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 and NuWave face pressure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376672" y="2670048"/>
            <a:ext cx="3566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BE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Declining market share trajectories combined with smaller markups make these brands the most vulnerable in the competitive landscape.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</TotalTime>
  <Words>949</Words>
  <Application>Microsoft Macintosh PowerPoint</Application>
  <PresentationFormat>On-screen Show (16:9)</PresentationFormat>
  <Paragraphs>135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Gadipati, Sai Aswin (evj3gb)</cp:lastModifiedBy>
  <cp:revision>4</cp:revision>
  <dcterms:created xsi:type="dcterms:W3CDTF">2026-05-05T15:57:58Z</dcterms:created>
  <dcterms:modified xsi:type="dcterms:W3CDTF">2026-05-05T17:39:00Z</dcterms:modified>
</cp:coreProperties>
</file>